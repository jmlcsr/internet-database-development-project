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svg" ContentType="image/svg+xml"/>
  <Override PartName="/ppt/media/image18.svg" ContentType="image/svg+xml"/>
  <Override PartName="/ppt/media/image2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5" r:id="rId6"/>
    <p:sldId id="283" r:id="rId7"/>
    <p:sldId id="280" r:id="rId8"/>
    <p:sldId id="259" r:id="rId9"/>
    <p:sldId id="269" r:id="rId10"/>
    <p:sldId id="270" r:id="rId11"/>
    <p:sldId id="287" r:id="rId12"/>
    <p:sldId id="285" r:id="rId13"/>
    <p:sldId id="260" r:id="rId14"/>
    <p:sldId id="271" r:id="rId15"/>
    <p:sldId id="272" r:id="rId16"/>
    <p:sldId id="264" r:id="rId17"/>
    <p:sldId id="261" r:id="rId18"/>
    <p:sldId id="276" r:id="rId19"/>
    <p:sldId id="286" r:id="rId20"/>
    <p:sldId id="279" r:id="rId21"/>
    <p:sldId id="266" r:id="rId22"/>
    <p:sldId id="284" r:id="rId23"/>
    <p:sldId id="265" r:id="rId24"/>
    <p:sldId id="26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0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68" d="100"/>
          <a:sy n="68" d="100"/>
        </p:scale>
        <p:origin x="58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3.x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tags" Target="../tags/tag2.xml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tags" Target="../tags/tag4.xml"/><Relationship Id="rId10" Type="http://schemas.openxmlformats.org/officeDocument/2006/relationships/image" Target="../media/image20.sv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880" y="1766"/>
            <a:ext cx="12465880" cy="685623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358172" y="-1766"/>
            <a:ext cx="12192000" cy="6858000"/>
          </a:xfrm>
          <a:prstGeom prst="rect">
            <a:avLst/>
          </a:prstGeom>
          <a:gradFill flip="none" rotWithShape="1">
            <a:gsLst>
              <a:gs pos="96791">
                <a:srgbClr val="7E0C6E">
                  <a:alpha val="0"/>
                </a:srgbClr>
              </a:gs>
              <a:gs pos="25000">
                <a:srgbClr val="7E0C6E"/>
              </a:gs>
              <a:gs pos="79000">
                <a:srgbClr val="7E0C6E">
                  <a:alpha val="44706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79479" y="2345076"/>
            <a:ext cx="10712521" cy="2167847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clrChange>
              <a:clrFrom>
                <a:srgbClr val="6F1A5B"/>
              </a:clrFrom>
              <a:clrTo>
                <a:srgbClr val="6F1A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72" y="2345076"/>
            <a:ext cx="4572000" cy="19431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04899" y="3945812"/>
            <a:ext cx="5609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</a:rPr>
              <a:t>互联网数据库开发大作业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71895" y="2791460"/>
            <a:ext cx="51428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 i="1">
                <a:solidFill>
                  <a:schemeClr val="bg1"/>
                </a:solidFill>
              </a:rPr>
              <a:t>抗战</a:t>
            </a:r>
            <a:r>
              <a:rPr lang="en-US" altLang="zh-CN" sz="4800" b="1" i="1">
                <a:solidFill>
                  <a:schemeClr val="bg1"/>
                </a:solidFill>
              </a:rPr>
              <a:t>80</a:t>
            </a:r>
            <a:r>
              <a:rPr lang="zh-CN" altLang="en-US" sz="4800" b="1" i="1">
                <a:solidFill>
                  <a:schemeClr val="bg1"/>
                </a:solidFill>
              </a:rPr>
              <a:t>周年纪念</a:t>
            </a:r>
            <a:endParaRPr lang="zh-CN" altLang="en-US" sz="4800" b="1" i="1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41465" y="4638040"/>
            <a:ext cx="4297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组长：张得涵</a:t>
            </a:r>
            <a:br>
              <a:rPr lang="zh-CN" altLang="en-US" b="1">
                <a:solidFill>
                  <a:schemeClr val="bg1"/>
                </a:solidFill>
              </a:rPr>
            </a:br>
            <a:r>
              <a:rPr lang="zh-CN" altLang="en-US" b="1">
                <a:solidFill>
                  <a:schemeClr val="bg1"/>
                </a:solidFill>
              </a:rPr>
              <a:t>组员：刘孙延、郝普瑞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880" y="1766"/>
            <a:ext cx="12465880" cy="685623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8128000" y="-26667"/>
            <a:ext cx="4064000" cy="6858000"/>
          </a:xfrm>
          <a:prstGeom prst="rect">
            <a:avLst/>
          </a:prstGeom>
          <a:gradFill>
            <a:gsLst>
              <a:gs pos="100000">
                <a:srgbClr val="7E0C6E">
                  <a:alpha val="0"/>
                </a:srgbClr>
              </a:gs>
              <a:gs pos="25000">
                <a:srgbClr val="7E0C6E"/>
              </a:gs>
              <a:gs pos="58000">
                <a:srgbClr val="7E0C6E">
                  <a:alpha val="44706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-273880" y="-26667"/>
            <a:ext cx="8401880" cy="6858000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756216" y="3126122"/>
            <a:ext cx="1954381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3800" b="1" dirty="0">
                <a:gradFill>
                  <a:gsLst>
                    <a:gs pos="9091">
                      <a:schemeClr val="tx1">
                        <a:lumMod val="75000"/>
                        <a:lumOff val="25000"/>
                      </a:schemeClr>
                    </a:gs>
                    <a:gs pos="29000">
                      <a:schemeClr val="bg1">
                        <a:lumMod val="65000"/>
                      </a:schemeClr>
                    </a:gs>
                    <a:gs pos="95000">
                      <a:schemeClr val="bg1"/>
                    </a:gs>
                  </a:gsLst>
                  <a:lin ang="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录</a:t>
            </a:r>
            <a:endParaRPr lang="en-US" altLang="zh-CN" sz="13800" b="1" dirty="0">
              <a:gradFill>
                <a:gsLst>
                  <a:gs pos="9091">
                    <a:schemeClr val="tx1">
                      <a:lumMod val="75000"/>
                      <a:lumOff val="25000"/>
                    </a:schemeClr>
                  </a:gs>
                  <a:gs pos="29000">
                    <a:schemeClr val="bg1">
                      <a:lumMod val="65000"/>
                    </a:schemeClr>
                  </a:gs>
                  <a:gs pos="95000">
                    <a:schemeClr val="bg1"/>
                  </a:gs>
                </a:gsLst>
                <a:lin ang="0" scaled="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93187" y="1610236"/>
            <a:ext cx="17260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38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目</a:t>
            </a:r>
            <a:endParaRPr lang="en-US" altLang="zh-CN" sz="138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252065" y="1610236"/>
            <a:ext cx="4843935" cy="3248687"/>
            <a:chOff x="1536785" y="1232898"/>
            <a:chExt cx="4843935" cy="3248687"/>
          </a:xfrm>
        </p:grpSpPr>
        <p:sp>
          <p:nvSpPr>
            <p:cNvPr id="18" name="文本框 17"/>
            <p:cNvSpPr txBox="1"/>
            <p:nvPr/>
          </p:nvSpPr>
          <p:spPr>
            <a:xfrm>
              <a:off x="2378011" y="1805060"/>
              <a:ext cx="3813616" cy="2676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+mj-ea"/>
                  <a:ea typeface="+mj-ea"/>
                </a:rPr>
                <a:t>项目总览</a:t>
              </a:r>
              <a:endParaRPr lang="en-US" altLang="zh-CN" sz="28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+mj-ea"/>
                  <a:ea typeface="+mj-ea"/>
                </a:rPr>
                <a:t>整体设计</a:t>
              </a:r>
              <a:endParaRPr lang="en-US" altLang="zh-CN" sz="28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+mj-ea"/>
                  <a:ea typeface="+mj-ea"/>
                </a:rPr>
                <a:t>项目实现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+mj-ea"/>
                  <a:ea typeface="+mj-ea"/>
                </a:rPr>
                <a:t>项目部署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536785" y="1232898"/>
              <a:ext cx="4843935" cy="459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CONTENTS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536785" y="1975169"/>
              <a:ext cx="436940" cy="383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1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536785" y="2641570"/>
              <a:ext cx="436940" cy="383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536785" y="3307971"/>
              <a:ext cx="436940" cy="383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3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536785" y="3974373"/>
              <a:ext cx="436940" cy="383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4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6F1A5B"/>
              </a:clrFrom>
              <a:clrTo>
                <a:srgbClr val="6F1A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690"/>
          <a:stretch>
            <a:fillRect/>
          </a:stretch>
        </p:blipFill>
        <p:spPr>
          <a:xfrm>
            <a:off x="4683872" y="883404"/>
            <a:ext cx="3271521" cy="50911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0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081" y="721118"/>
            <a:ext cx="4572000" cy="194310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445268" y="3295436"/>
            <a:ext cx="5301463" cy="1173822"/>
            <a:chOff x="3380199" y="3346807"/>
            <a:chExt cx="5301463" cy="1173822"/>
          </a:xfrm>
        </p:grpSpPr>
        <p:sp>
          <p:nvSpPr>
            <p:cNvPr id="7" name="立方体 6"/>
            <p:cNvSpPr/>
            <p:nvPr/>
          </p:nvSpPr>
          <p:spPr>
            <a:xfrm>
              <a:off x="3380199" y="3346807"/>
              <a:ext cx="1173822" cy="1173822"/>
            </a:xfrm>
            <a:prstGeom prst="cube">
              <a:avLst/>
            </a:prstGeom>
            <a:solidFill>
              <a:schemeClr val="bg1"/>
            </a:solidFill>
            <a:ln>
              <a:solidFill>
                <a:srgbClr val="7E0C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1</a:t>
              </a:r>
              <a:endParaRPr lang="zh-CN" altLang="en-US" sz="5400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8" name="立方体 7"/>
            <p:cNvSpPr/>
            <p:nvPr/>
          </p:nvSpPr>
          <p:spPr>
            <a:xfrm>
              <a:off x="4272337" y="3346807"/>
              <a:ext cx="4409325" cy="1173822"/>
            </a:xfrm>
            <a:prstGeom prst="cube">
              <a:avLst/>
            </a:prstGeom>
            <a:solidFill>
              <a:schemeClr val="bg1"/>
            </a:solidFill>
            <a:ln>
              <a:solidFill>
                <a:srgbClr val="7E0C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项目总览</a:t>
              </a:r>
              <a:endParaRPr lang="zh-CN" altLang="en-US" sz="5400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697406" y="6185811"/>
            <a:ext cx="4725268" cy="369332"/>
            <a:chOff x="3697406" y="6185811"/>
            <a:chExt cx="4725268" cy="369332"/>
          </a:xfrm>
        </p:grpSpPr>
        <p:sp>
          <p:nvSpPr>
            <p:cNvPr id="10" name="矩形 9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前端界面</a:t>
            </a:r>
            <a:endParaRPr lang="zh-CN" altLang="en-US" sz="2400" b="1" dirty="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3930" y="1519555"/>
            <a:ext cx="75971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后端登录界面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0" y="2034540"/>
            <a:ext cx="5908040" cy="3020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后端界面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710" y="1489710"/>
            <a:ext cx="7562215" cy="4621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92200" y="1816100"/>
            <a:ext cx="10045700" cy="3619500"/>
          </a:xfrm>
          <a:prstGeom prst="roundRect">
            <a:avLst/>
          </a:prstGeom>
          <a:noFill/>
          <a:ln w="76200"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8"/>
          <p:cNvSpPr/>
          <p:nvPr/>
        </p:nvSpPr>
        <p:spPr>
          <a:xfrm>
            <a:off x="1003300" y="2273300"/>
            <a:ext cx="177800" cy="2705100"/>
          </a:xfrm>
          <a:prstGeom prst="round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/>
          <p:cNvSpPr/>
          <p:nvPr/>
        </p:nvSpPr>
        <p:spPr>
          <a:xfrm>
            <a:off x="11010900" y="2273300"/>
            <a:ext cx="177800" cy="2705100"/>
          </a:xfrm>
          <a:prstGeom prst="round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3733366" y="5659326"/>
            <a:ext cx="4725268" cy="369332"/>
            <a:chOff x="3697406" y="6185811"/>
            <a:chExt cx="4725268" cy="369332"/>
          </a:xfrm>
        </p:grpSpPr>
        <p:sp>
          <p:nvSpPr>
            <p:cNvPr id="22" name="矩形 21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背景</a:t>
            </a:r>
            <a:endParaRPr lang="zh-CN" altLang="en-US" sz="2400" b="1" dirty="0"/>
          </a:p>
        </p:txBody>
      </p:sp>
      <p:sp>
        <p:nvSpPr>
          <p:cNvPr id="26" name="流程图: 预定义过程 25"/>
          <p:cNvSpPr/>
          <p:nvPr/>
        </p:nvSpPr>
        <p:spPr>
          <a:xfrm>
            <a:off x="3886200" y="920104"/>
            <a:ext cx="4292600" cy="510464"/>
          </a:xfrm>
          <a:prstGeom prst="flowChartPredefinedProcess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790700" y="2260193"/>
            <a:ext cx="80264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年是中国人民抗日战争暨世界反法西斯战争胜利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周年。为铭记历史、缅怀先烈，本项目旨在利用互联网数据库技术，构建</a:t>
            </a:r>
            <a:r>
              <a:rPr lang="en-US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⼀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个全方位展示抗战史料、英雄事迹及战役档案的数字档案馆系统。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92200" y="1816100"/>
            <a:ext cx="10045700" cy="3619500"/>
          </a:xfrm>
          <a:prstGeom prst="roundRect">
            <a:avLst/>
          </a:prstGeom>
          <a:noFill/>
          <a:ln w="76200"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8"/>
          <p:cNvSpPr/>
          <p:nvPr/>
        </p:nvSpPr>
        <p:spPr>
          <a:xfrm>
            <a:off x="1003300" y="2273300"/>
            <a:ext cx="177800" cy="2705100"/>
          </a:xfrm>
          <a:prstGeom prst="round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/>
          <p:cNvSpPr/>
          <p:nvPr/>
        </p:nvSpPr>
        <p:spPr>
          <a:xfrm>
            <a:off x="11010900" y="2273300"/>
            <a:ext cx="177800" cy="2705100"/>
          </a:xfrm>
          <a:prstGeom prst="round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3733366" y="5659326"/>
            <a:ext cx="4725268" cy="369332"/>
            <a:chOff x="3697406" y="6185811"/>
            <a:chExt cx="4725268" cy="369332"/>
          </a:xfrm>
        </p:grpSpPr>
        <p:sp>
          <p:nvSpPr>
            <p:cNvPr id="22" name="矩形 21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目标</a:t>
            </a:r>
            <a:endParaRPr lang="zh-CN" altLang="en-US" sz="2400" b="1" dirty="0"/>
          </a:p>
        </p:txBody>
      </p:sp>
      <p:sp>
        <p:nvSpPr>
          <p:cNvPr id="26" name="流程图: 预定义过程 25"/>
          <p:cNvSpPr/>
          <p:nvPr/>
        </p:nvSpPr>
        <p:spPr>
          <a:xfrm>
            <a:off x="3886200" y="920104"/>
            <a:ext cx="4292600" cy="510464"/>
          </a:xfrm>
          <a:prstGeom prst="flowChartPredefinedProcess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790700" y="2260193"/>
            <a:ext cx="80264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 dirty="0"/>
              <a:t>实现抗战英雄志、重大战役录、史料馆等核心信息的数字化存储与展示。</a:t>
            </a:r>
            <a:endParaRPr lang="zh-CN" alt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 dirty="0"/>
              <a:t>提供交互式留言板，增强用户感悟分享。</a:t>
            </a:r>
            <a:endParaRPr lang="zh-CN" alt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 dirty="0"/>
              <a:t>利用</a:t>
            </a:r>
            <a:r>
              <a:rPr lang="en-US" altLang="zh-CN" b="1" dirty="0"/>
              <a:t>Yii2</a:t>
            </a:r>
            <a:r>
              <a:rPr lang="zh-CN" altLang="en-US" b="1" dirty="0"/>
              <a:t>框架实现前后端分离管理，确保数据的安全与高效维护。</a:t>
            </a:r>
            <a:endParaRPr lang="zh-CN" alt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 dirty="0"/>
              <a:t>满足课程设计要求的</a:t>
            </a:r>
            <a:r>
              <a:rPr lang="en-US" altLang="zh-CN" b="1" dirty="0"/>
              <a:t>10</a:t>
            </a:r>
            <a:r>
              <a:rPr lang="zh-CN" altLang="en-US" b="1" dirty="0"/>
              <a:t>张以上数据库表及动态图表加分项。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92200" y="1816100"/>
            <a:ext cx="10045700" cy="3619500"/>
          </a:xfrm>
          <a:prstGeom prst="roundRect">
            <a:avLst/>
          </a:prstGeom>
          <a:noFill/>
          <a:ln w="76200"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8"/>
          <p:cNvSpPr/>
          <p:nvPr/>
        </p:nvSpPr>
        <p:spPr>
          <a:xfrm>
            <a:off x="1003300" y="2273300"/>
            <a:ext cx="177800" cy="2705100"/>
          </a:xfrm>
          <a:prstGeom prst="round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/>
          <p:cNvSpPr/>
          <p:nvPr/>
        </p:nvSpPr>
        <p:spPr>
          <a:xfrm>
            <a:off x="11010900" y="2273300"/>
            <a:ext cx="177800" cy="2705100"/>
          </a:xfrm>
          <a:prstGeom prst="round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3733366" y="5659326"/>
            <a:ext cx="4725268" cy="369332"/>
            <a:chOff x="3697406" y="6185811"/>
            <a:chExt cx="4725268" cy="369332"/>
          </a:xfrm>
        </p:grpSpPr>
        <p:sp>
          <p:nvSpPr>
            <p:cNvPr id="22" name="矩形 21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成员分工</a:t>
            </a:r>
            <a:endParaRPr lang="zh-CN" altLang="en-US" sz="2400" b="1" dirty="0"/>
          </a:p>
        </p:txBody>
      </p:sp>
      <p:sp>
        <p:nvSpPr>
          <p:cNvPr id="26" name="流程图: 预定义过程 25"/>
          <p:cNvSpPr/>
          <p:nvPr/>
        </p:nvSpPr>
        <p:spPr>
          <a:xfrm>
            <a:off x="3886200" y="920104"/>
            <a:ext cx="4292600" cy="510464"/>
          </a:xfrm>
          <a:prstGeom prst="flowChartPredefinedProcess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790700" y="2260193"/>
            <a:ext cx="80264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 dirty="0"/>
              <a:t>实现抗战英雄志、重</a:t>
            </a:r>
            <a:r>
              <a:rPr lang="en-US" altLang="en-US" b="1" dirty="0"/>
              <a:t>⼤</a:t>
            </a:r>
            <a:r>
              <a:rPr lang="zh-CN" altLang="en-US" b="1" dirty="0"/>
              <a:t>战役录、史料馆等核</a:t>
            </a:r>
            <a:r>
              <a:rPr lang="en-US" altLang="en-US" b="1" dirty="0"/>
              <a:t>⼼</a:t>
            </a:r>
            <a:r>
              <a:rPr lang="zh-CN" altLang="en-US" b="1" dirty="0"/>
              <a:t>信息的数字化存储与展</a:t>
            </a:r>
            <a:r>
              <a:rPr lang="en-US" altLang="en-US" b="1" dirty="0"/>
              <a:t>⽰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 dirty="0"/>
              <a:t>提供交互式留</a:t>
            </a:r>
            <a:r>
              <a:rPr lang="en-US" altLang="en-US" b="1" dirty="0"/>
              <a:t>⾔</a:t>
            </a:r>
            <a:r>
              <a:rPr lang="zh-CN" altLang="en-US" b="1" dirty="0"/>
              <a:t>板，增强</a:t>
            </a:r>
            <a:r>
              <a:rPr lang="en-US" altLang="en-US" b="1" dirty="0"/>
              <a:t>⽤</a:t>
            </a:r>
            <a:r>
              <a:rPr lang="zh-CN" altLang="en-US" b="1" dirty="0"/>
              <a:t>户感悟分享。</a:t>
            </a:r>
            <a:endParaRPr lang="zh-CN" alt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 dirty="0"/>
              <a:t>利</a:t>
            </a:r>
            <a:r>
              <a:rPr lang="en-US" altLang="en-US" b="1" dirty="0"/>
              <a:t>⽤</a:t>
            </a:r>
            <a:r>
              <a:rPr lang="en-US" altLang="zh-CN" b="1" dirty="0"/>
              <a:t>Yii2</a:t>
            </a:r>
            <a:r>
              <a:rPr lang="zh-CN" altLang="en-US" b="1" dirty="0"/>
              <a:t>框架实现前后端分离管理，确保数据的安全与</a:t>
            </a:r>
            <a:r>
              <a:rPr lang="en-US" altLang="en-US" b="1" dirty="0"/>
              <a:t>⾼</a:t>
            </a:r>
            <a:r>
              <a:rPr lang="zh-CN" altLang="en-US" b="1" dirty="0"/>
              <a:t>效维护。</a:t>
            </a:r>
            <a:endParaRPr lang="zh-CN" alt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b="1" dirty="0"/>
              <a:t>满</a:t>
            </a:r>
            <a:r>
              <a:rPr lang="en-US" altLang="en-US" b="1" dirty="0"/>
              <a:t>⾜</a:t>
            </a:r>
            <a:r>
              <a:rPr lang="zh-CN" altLang="en-US" b="1" dirty="0"/>
              <a:t>课程设计要求的</a:t>
            </a:r>
            <a:r>
              <a:rPr lang="en-US" altLang="zh-CN" b="1" dirty="0"/>
              <a:t>10</a:t>
            </a:r>
            <a:r>
              <a:rPr lang="zh-CN" altLang="en-US" b="1" dirty="0"/>
              <a:t>张以上数据库表及动态图表加分项。</a:t>
            </a:r>
            <a:endParaRPr lang="zh-CN" altLang="en-US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75" y="2121535"/>
            <a:ext cx="9114155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92200" y="1816100"/>
            <a:ext cx="10045700" cy="3619500"/>
          </a:xfrm>
          <a:prstGeom prst="roundRect">
            <a:avLst/>
          </a:prstGeom>
          <a:noFill/>
          <a:ln w="76200"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1. 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团队作业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1——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需求文档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张得涵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团队作业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2——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设计文档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张得涵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3. 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团队作业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3——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实现文档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张得涵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4. 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团队作业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4——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用户手册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刘孙延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5. 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团队作业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5——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部署文档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刘孙延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6. 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团队作业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6——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项目展示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郝普瑞（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PPT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）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7. 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团队作业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7——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录屏讲解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郝普瑞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algn="l"/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1003300" y="2273300"/>
            <a:ext cx="177800" cy="2705100"/>
          </a:xfrm>
          <a:prstGeom prst="round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/>
          <p:cNvSpPr/>
          <p:nvPr/>
        </p:nvSpPr>
        <p:spPr>
          <a:xfrm>
            <a:off x="11010900" y="2273300"/>
            <a:ext cx="177800" cy="2705100"/>
          </a:xfrm>
          <a:prstGeom prst="round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3733366" y="5659326"/>
            <a:ext cx="4725268" cy="369332"/>
            <a:chOff x="3697406" y="6185811"/>
            <a:chExt cx="4725268" cy="369332"/>
          </a:xfrm>
        </p:grpSpPr>
        <p:sp>
          <p:nvSpPr>
            <p:cNvPr id="22" name="矩形 21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成员分工</a:t>
            </a:r>
            <a:endParaRPr lang="zh-CN" altLang="en-US" sz="2400" b="1" dirty="0"/>
          </a:p>
        </p:txBody>
      </p:sp>
      <p:sp>
        <p:nvSpPr>
          <p:cNvPr id="26" name="流程图: 预定义过程 25"/>
          <p:cNvSpPr/>
          <p:nvPr/>
        </p:nvSpPr>
        <p:spPr>
          <a:xfrm>
            <a:off x="3886200" y="920104"/>
            <a:ext cx="4292600" cy="510464"/>
          </a:xfrm>
          <a:prstGeom prst="flowChartPredefinedProcess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Git</a:t>
            </a:r>
            <a:r>
              <a:rPr lang="zh-CN" altLang="en-US" sz="2400" b="1" dirty="0"/>
              <a:t>项目管理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930" r="3063"/>
          <a:stretch>
            <a:fillRect/>
          </a:stretch>
        </p:blipFill>
        <p:spPr>
          <a:xfrm>
            <a:off x="560705" y="1644650"/>
            <a:ext cx="7670165" cy="4311015"/>
          </a:xfrm>
          <a:prstGeom prst="rect">
            <a:avLst/>
          </a:prstGeom>
        </p:spPr>
      </p:pic>
      <p:sp>
        <p:nvSpPr>
          <p:cNvPr id="4" name="对角圆角矩形 3"/>
          <p:cNvSpPr/>
          <p:nvPr/>
        </p:nvSpPr>
        <p:spPr>
          <a:xfrm>
            <a:off x="8673465" y="1744345"/>
            <a:ext cx="3007360" cy="2066290"/>
          </a:xfrm>
          <a:prstGeom prst="round2Diag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https://github.com/jmlcsr/Internet-Dahttps://github.com/jmlcsr/Internet-Database-Development-Project.gittabase-Development-Project.git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0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081" y="721118"/>
            <a:ext cx="4572000" cy="194310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445268" y="3295436"/>
            <a:ext cx="5301463" cy="1173822"/>
            <a:chOff x="3380199" y="3346807"/>
            <a:chExt cx="5301463" cy="1173822"/>
          </a:xfrm>
        </p:grpSpPr>
        <p:sp>
          <p:nvSpPr>
            <p:cNvPr id="7" name="立方体 6"/>
            <p:cNvSpPr/>
            <p:nvPr/>
          </p:nvSpPr>
          <p:spPr>
            <a:xfrm>
              <a:off x="3380199" y="3346807"/>
              <a:ext cx="1173822" cy="1173822"/>
            </a:xfrm>
            <a:prstGeom prst="cube">
              <a:avLst/>
            </a:prstGeom>
            <a:solidFill>
              <a:schemeClr val="bg1"/>
            </a:solidFill>
            <a:ln>
              <a:solidFill>
                <a:srgbClr val="7E0C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</a:t>
              </a:r>
              <a:endParaRPr lang="zh-CN" altLang="en-US" sz="5400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8" name="立方体 7"/>
            <p:cNvSpPr/>
            <p:nvPr/>
          </p:nvSpPr>
          <p:spPr>
            <a:xfrm>
              <a:off x="4272337" y="3346807"/>
              <a:ext cx="4409325" cy="1173822"/>
            </a:xfrm>
            <a:prstGeom prst="cube">
              <a:avLst/>
            </a:prstGeom>
            <a:solidFill>
              <a:schemeClr val="bg1"/>
            </a:solidFill>
            <a:ln>
              <a:solidFill>
                <a:srgbClr val="7E0C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4400" b="1" dirty="0">
                  <a:solidFill>
                    <a:srgbClr val="7E0C6E"/>
                  </a:solidFill>
                  <a:latin typeface="+mj-ea"/>
                </a:rPr>
                <a:t>整体设计</a:t>
              </a:r>
              <a:endParaRPr lang="zh-CN" altLang="en-US" sz="4400" b="1" dirty="0">
                <a:solidFill>
                  <a:srgbClr val="7E0C6E"/>
                </a:solidFill>
                <a:latin typeface="+mj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697406" y="6185811"/>
            <a:ext cx="4725268" cy="369332"/>
            <a:chOff x="3697406" y="6185811"/>
            <a:chExt cx="4725268" cy="369332"/>
          </a:xfrm>
        </p:grpSpPr>
        <p:sp>
          <p:nvSpPr>
            <p:cNvPr id="10" name="矩形 9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总览</a:t>
            </a:r>
            <a:endParaRPr lang="zh-CN" altLang="en-US" sz="2400" b="1" dirty="0"/>
          </a:p>
        </p:txBody>
      </p:sp>
      <p:sp>
        <p:nvSpPr>
          <p:cNvPr id="2" name="圆角矩形 1"/>
          <p:cNvSpPr/>
          <p:nvPr/>
        </p:nvSpPr>
        <p:spPr>
          <a:xfrm>
            <a:off x="2551430" y="1734185"/>
            <a:ext cx="7249795" cy="1219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94000" y="1896110"/>
            <a:ext cx="68141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本项目基于</a:t>
            </a:r>
            <a:r>
              <a:rPr lang="en-US" altLang="zh-CN"/>
              <a:t> Yii2 Advanced Template​ </a:t>
            </a:r>
            <a:r>
              <a:rPr lang="zh-CN" altLang="en-US"/>
              <a:t>开发，采用</a:t>
            </a:r>
            <a:r>
              <a:rPr lang="en-US" altLang="zh-CN"/>
              <a:t> MVC</a:t>
            </a:r>
            <a:r>
              <a:rPr lang="zh-CN" altLang="en-US"/>
              <a:t>（</a:t>
            </a:r>
            <a:r>
              <a:rPr lang="en-US" altLang="zh-CN"/>
              <a:t>Model-View-Controller</a:t>
            </a:r>
            <a:r>
              <a:rPr lang="zh-CN" altLang="en-US"/>
              <a:t>）设计模式，并实现了前后端物理分离的架构。具体模块划分如下：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同侧圆角矩形 3"/>
          <p:cNvSpPr/>
          <p:nvPr/>
        </p:nvSpPr>
        <p:spPr>
          <a:xfrm>
            <a:off x="754380" y="3310890"/>
            <a:ext cx="2511425" cy="2443480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Common</a:t>
            </a:r>
            <a:r>
              <a:rPr lang="zh-CN" altLang="en-US">
                <a:solidFill>
                  <a:schemeClr val="tx1"/>
                </a:solidFill>
              </a:rPr>
              <a:t>（公共层）：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包含核心数据库模型（</a:t>
            </a:r>
            <a:r>
              <a:rPr lang="en-US" altLang="zh-CN">
                <a:solidFill>
                  <a:schemeClr val="tx1"/>
                </a:solidFill>
              </a:rPr>
              <a:t>ActiveRecord</a:t>
            </a:r>
            <a:r>
              <a:rPr lang="zh-CN" altLang="en-US">
                <a:solidFill>
                  <a:schemeClr val="tx1"/>
                </a:solidFill>
              </a:rPr>
              <a:t>），供前后端共同调用，旨在提高代码的复用性与一致性。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同侧圆角矩形 9"/>
          <p:cNvSpPr/>
          <p:nvPr/>
        </p:nvSpPr>
        <p:spPr>
          <a:xfrm>
            <a:off x="4715510" y="3310890"/>
            <a:ext cx="2511425" cy="2443480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Frontend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（前台门户）：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负责面向用户的展示功能，包括史料展示、英雄事迹浏览、大事记时间轴呈现以及访客留言。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/>
          </a:p>
        </p:txBody>
      </p:sp>
      <p:sp>
        <p:nvSpPr>
          <p:cNvPr id="17" name="同侧圆角矩形 16"/>
          <p:cNvSpPr/>
          <p:nvPr/>
        </p:nvSpPr>
        <p:spPr>
          <a:xfrm>
            <a:off x="8799195" y="3310890"/>
            <a:ext cx="2511425" cy="2443480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925560" y="3429000"/>
            <a:ext cx="22898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sym typeface="+mn-ea"/>
              </a:rPr>
              <a:t>Backend</a:t>
            </a:r>
            <a:r>
              <a:rPr lang="zh-CN" altLang="en-US">
                <a:sym typeface="+mn-ea"/>
              </a:rPr>
              <a:t>（后台管理）：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ym typeface="+mn-ea"/>
              </a:rPr>
              <a:t>提供数据管理功能，支持对内容的增删改查（</a:t>
            </a:r>
            <a:r>
              <a:rPr lang="en-US" altLang="zh-CN">
                <a:sym typeface="+mn-ea"/>
              </a:rPr>
              <a:t>CRUD</a:t>
            </a:r>
            <a:r>
              <a:rPr lang="zh-CN" altLang="en-US">
                <a:sym typeface="+mn-ea"/>
              </a:rPr>
              <a:t>）、文献分类管理、留言审核及系统配置等操作。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项目结构</a:t>
            </a:r>
            <a:endParaRPr lang="zh-CN" altLang="en-US" sz="2400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454660" y="1621790"/>
            <a:ext cx="3664585" cy="1642110"/>
            <a:chOff x="716" y="2554"/>
            <a:chExt cx="5771" cy="2586"/>
          </a:xfrm>
        </p:grpSpPr>
        <p:sp>
          <p:nvSpPr>
            <p:cNvPr id="2" name="圆角矩形 1"/>
            <p:cNvSpPr/>
            <p:nvPr/>
          </p:nvSpPr>
          <p:spPr>
            <a:xfrm>
              <a:off x="716" y="2554"/>
              <a:ext cx="5771" cy="258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25" y="2731"/>
              <a:ext cx="5121" cy="22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开发环境</a:t>
              </a:r>
              <a:endParaRPr lang="zh-CN" altLang="en-US"/>
            </a:p>
            <a:p>
              <a:r>
                <a:rPr lang="zh-CN" altLang="en-US"/>
                <a:t>后端语言：</a:t>
              </a:r>
              <a:r>
                <a:rPr lang="en-US" altLang="zh-CN"/>
                <a:t>PHP 8.x</a:t>
              </a:r>
              <a:endParaRPr lang="en-US" altLang="zh-CN"/>
            </a:p>
            <a:p>
              <a:r>
                <a:rPr lang="zh-CN" altLang="en-US"/>
                <a:t>数据库：</a:t>
              </a:r>
              <a:r>
                <a:rPr lang="en-US" altLang="zh-CN"/>
                <a:t>MySQL 8.0 </a:t>
              </a:r>
              <a:r>
                <a:rPr lang="zh-CN" altLang="en-US"/>
                <a:t>或</a:t>
              </a:r>
              <a:r>
                <a:rPr lang="en-US" altLang="zh-CN"/>
                <a:t> MariaDB</a:t>
              </a:r>
              <a:endParaRPr lang="en-US" altLang="zh-CN"/>
            </a:p>
            <a:p>
              <a:r>
                <a:rPr lang="zh-CN" altLang="en-US"/>
                <a:t>前端框架：</a:t>
              </a:r>
              <a:r>
                <a:rPr lang="en-US" altLang="zh-CN"/>
                <a:t>Bootstrap 3</a:t>
              </a:r>
              <a:endParaRPr lang="en-US" altLang="zh-CN"/>
            </a:p>
            <a:p>
              <a:r>
                <a:rPr lang="zh-CN" altLang="en-US"/>
                <a:t>可视化插件：</a:t>
              </a:r>
              <a:r>
                <a:rPr lang="en-US" altLang="zh-CN"/>
                <a:t>Chart.js</a:t>
              </a:r>
              <a:endParaRPr lang="en-US" altLang="zh-CN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975" y="1621790"/>
            <a:ext cx="6470650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0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081" y="721118"/>
            <a:ext cx="4572000" cy="194310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445268" y="3295436"/>
            <a:ext cx="5301463" cy="1173822"/>
            <a:chOff x="3380199" y="3346807"/>
            <a:chExt cx="5301463" cy="1173822"/>
          </a:xfrm>
        </p:grpSpPr>
        <p:sp>
          <p:nvSpPr>
            <p:cNvPr id="7" name="立方体 6"/>
            <p:cNvSpPr/>
            <p:nvPr/>
          </p:nvSpPr>
          <p:spPr>
            <a:xfrm>
              <a:off x="3380199" y="3346807"/>
              <a:ext cx="1173822" cy="1173822"/>
            </a:xfrm>
            <a:prstGeom prst="cube">
              <a:avLst/>
            </a:prstGeom>
            <a:solidFill>
              <a:schemeClr val="bg1"/>
            </a:solidFill>
            <a:ln>
              <a:solidFill>
                <a:srgbClr val="7E0C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3</a:t>
              </a:r>
              <a:endParaRPr lang="zh-CN" altLang="en-US" sz="5400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8" name="立方体 7"/>
            <p:cNvSpPr/>
            <p:nvPr/>
          </p:nvSpPr>
          <p:spPr>
            <a:xfrm>
              <a:off x="4272337" y="3346807"/>
              <a:ext cx="4409325" cy="1173822"/>
            </a:xfrm>
            <a:prstGeom prst="cube">
              <a:avLst/>
            </a:prstGeom>
            <a:solidFill>
              <a:schemeClr val="bg1"/>
            </a:solidFill>
            <a:ln>
              <a:solidFill>
                <a:srgbClr val="7E0C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4400" b="1" dirty="0">
                  <a:solidFill>
                    <a:srgbClr val="7E0C6E"/>
                  </a:solidFill>
                  <a:latin typeface="+mj-ea"/>
                </a:rPr>
                <a:t>     </a:t>
              </a:r>
              <a:r>
                <a:rPr lang="zh-CN" altLang="en-US" sz="4400" b="1" dirty="0">
                  <a:solidFill>
                    <a:srgbClr val="7E0C6E"/>
                  </a:solidFill>
                  <a:latin typeface="+mj-ea"/>
                </a:rPr>
                <a:t>具体实现</a:t>
              </a:r>
              <a:endParaRPr lang="zh-CN" altLang="en-US" sz="4400" b="1" dirty="0">
                <a:solidFill>
                  <a:srgbClr val="7E0C6E"/>
                </a:solidFill>
                <a:latin typeface="+mj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697406" y="6185811"/>
            <a:ext cx="4725268" cy="369332"/>
            <a:chOff x="3697406" y="6185811"/>
            <a:chExt cx="4725268" cy="369332"/>
          </a:xfrm>
        </p:grpSpPr>
        <p:sp>
          <p:nvSpPr>
            <p:cNvPr id="10" name="矩形 9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5969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本想米</a:t>
            </a:r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360" y="932180"/>
            <a:ext cx="7497445" cy="483108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1684655" y="1964055"/>
            <a:ext cx="1667510" cy="3101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本项目</a:t>
            </a:r>
            <a:r>
              <a:rPr lang="en-US" altLang="zh-CN" sz="3600"/>
              <a:t>         </a:t>
            </a:r>
            <a:endParaRPr lang="en-US" altLang="zh-CN" sz="3600"/>
          </a:p>
          <a:p>
            <a:endParaRPr lang="en-US" altLang="zh-CN" sz="3600"/>
          </a:p>
          <a:p>
            <a:r>
              <a:rPr lang="en-US" altLang="zh-CN" sz="3600"/>
              <a:t>     </a:t>
            </a:r>
            <a:r>
              <a:rPr lang="zh-CN" altLang="en-US" sz="3600"/>
              <a:t>的</a:t>
            </a:r>
            <a:endParaRPr lang="zh-CN" altLang="en-US" sz="3600"/>
          </a:p>
          <a:p>
            <a:endParaRPr lang="zh-CN" altLang="en-US" sz="3600"/>
          </a:p>
          <a:p>
            <a:r>
              <a:rPr lang="zh-CN" altLang="en-US" sz="3600"/>
              <a:t>十一张数据表</a:t>
            </a:r>
            <a:endParaRPr lang="zh-CN" altLang="en-US" sz="3600"/>
          </a:p>
        </p:txBody>
      </p:sp>
      <p:sp>
        <p:nvSpPr>
          <p:cNvPr id="39" name="矩形 38"/>
          <p:cNvSpPr/>
          <p:nvPr/>
        </p:nvSpPr>
        <p:spPr>
          <a:xfrm>
            <a:off x="1403985" y="1757045"/>
            <a:ext cx="2192655" cy="36144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史料检索与阅读模块</a:t>
            </a:r>
            <a:endParaRPr lang="zh-CN" altLang="en-US" sz="2400" b="1" dirty="0"/>
          </a:p>
        </p:txBody>
      </p:sp>
      <p:sp>
        <p:nvSpPr>
          <p:cNvPr id="4" name="同侧圆角矩形 3"/>
          <p:cNvSpPr/>
          <p:nvPr/>
        </p:nvSpPr>
        <p:spPr>
          <a:xfrm>
            <a:off x="754380" y="2039620"/>
            <a:ext cx="2511425" cy="3714750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Model (</a:t>
            </a:r>
            <a:r>
              <a:rPr lang="zh-CN" altLang="en-US">
                <a:solidFill>
                  <a:schemeClr val="tx1"/>
                </a:solidFill>
              </a:rPr>
              <a:t>模型</a:t>
            </a:r>
            <a:r>
              <a:rPr lang="en-US" altLang="zh-CN">
                <a:solidFill>
                  <a:schemeClr val="tx1"/>
                </a:solidFill>
              </a:rPr>
              <a:t>): </a:t>
            </a:r>
            <a:r>
              <a:rPr lang="zh-CN" altLang="en-US">
                <a:solidFill>
                  <a:schemeClr val="tx1"/>
                </a:solidFill>
              </a:rPr>
              <a:t>核心模型为</a:t>
            </a:r>
            <a:r>
              <a:rPr lang="en-US" altLang="zh-CN">
                <a:solidFill>
                  <a:schemeClr val="tx1"/>
                </a:solidFill>
              </a:rPr>
              <a:t> HistoricalDocument</a:t>
            </a:r>
            <a:r>
              <a:rPr lang="zh-CN" altLang="en-US">
                <a:solidFill>
                  <a:schemeClr val="tx1"/>
                </a:solidFill>
              </a:rPr>
              <a:t>，继承自</a:t>
            </a:r>
            <a:r>
              <a:rPr lang="en-US" altLang="zh-CN">
                <a:solidFill>
                  <a:schemeClr val="tx1"/>
                </a:solidFill>
              </a:rPr>
              <a:t>ActiveRecord</a:t>
            </a:r>
            <a:r>
              <a:rPr lang="zh-CN" altLang="en-US">
                <a:solidFill>
                  <a:schemeClr val="tx1"/>
                </a:solidFill>
              </a:rPr>
              <a:t>。它定义了与分类的关联方法（如</a:t>
            </a:r>
            <a:r>
              <a:rPr lang="en-US" altLang="zh-CN">
                <a:solidFill>
                  <a:schemeClr val="tx1"/>
                </a:solidFill>
              </a:rPr>
              <a:t> getCategory()</a:t>
            </a:r>
            <a:r>
              <a:rPr lang="zh-CN" altLang="en-US">
                <a:solidFill>
                  <a:schemeClr val="tx1"/>
                </a:solidFill>
              </a:rPr>
              <a:t>），用于管理数据关系和业务逻辑。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同侧圆角矩形 9"/>
          <p:cNvSpPr/>
          <p:nvPr/>
        </p:nvSpPr>
        <p:spPr>
          <a:xfrm>
            <a:off x="4715510" y="2038985"/>
            <a:ext cx="2511425" cy="3715385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Controller (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控制器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): HistoricalDocumentController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负责处理业务逻辑，调用模型（如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find()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方法）获取史料数据，并通过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json_encode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函数将数据格式化为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JSON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，为前端图表提供数据支持。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/>
          </a:p>
        </p:txBody>
      </p:sp>
      <p:sp>
        <p:nvSpPr>
          <p:cNvPr id="17" name="同侧圆角矩形 16"/>
          <p:cNvSpPr/>
          <p:nvPr/>
        </p:nvSpPr>
        <p:spPr>
          <a:xfrm>
            <a:off x="8799195" y="2039620"/>
            <a:ext cx="2511425" cy="3714750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View (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视图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):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使用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Bootstrap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的列表组组件清晰展示史料索引列表，详情页则运用文字排版技术优化显示，以提升用户的阅读体验。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数据库配置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110" y="1674495"/>
            <a:ext cx="6240145" cy="42322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安全与日志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45" y="3983355"/>
            <a:ext cx="9780905" cy="15906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74445" y="1647825"/>
            <a:ext cx="21031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为了符合课程对于项目安全性的潜在要求，本系统设计了非</a:t>
            </a:r>
            <a:r>
              <a:rPr lang="en-US" altLang="zh-CN"/>
              <a:t>Web</a:t>
            </a:r>
            <a:r>
              <a:rPr lang="zh-CN" altLang="en-US"/>
              <a:t>根目录下载机制。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158875" y="1605915"/>
            <a:ext cx="2333625" cy="15182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025" y="1583690"/>
            <a:ext cx="6029325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0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081" y="721118"/>
            <a:ext cx="4572000" cy="194310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445268" y="3294801"/>
            <a:ext cx="5301463" cy="1174457"/>
            <a:chOff x="3380199" y="3346172"/>
            <a:chExt cx="5301463" cy="1174457"/>
          </a:xfrm>
        </p:grpSpPr>
        <p:sp>
          <p:nvSpPr>
            <p:cNvPr id="7" name="立方体 6"/>
            <p:cNvSpPr/>
            <p:nvPr/>
          </p:nvSpPr>
          <p:spPr>
            <a:xfrm>
              <a:off x="3380199" y="3346807"/>
              <a:ext cx="1173822" cy="1173822"/>
            </a:xfrm>
            <a:prstGeom prst="cube">
              <a:avLst/>
            </a:prstGeom>
            <a:solidFill>
              <a:schemeClr val="bg1"/>
            </a:solidFill>
            <a:ln>
              <a:solidFill>
                <a:srgbClr val="7E0C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4</a:t>
              </a:r>
              <a:endParaRPr lang="zh-CN" altLang="en-US" sz="5400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8" name="立方体 7"/>
            <p:cNvSpPr/>
            <p:nvPr/>
          </p:nvSpPr>
          <p:spPr>
            <a:xfrm>
              <a:off x="4272337" y="3346172"/>
              <a:ext cx="4409325" cy="1173822"/>
            </a:xfrm>
            <a:prstGeom prst="cube">
              <a:avLst/>
            </a:prstGeom>
            <a:solidFill>
              <a:schemeClr val="bg1"/>
            </a:solidFill>
            <a:ln>
              <a:solidFill>
                <a:srgbClr val="7E0C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4400" b="1" dirty="0">
                  <a:solidFill>
                    <a:srgbClr val="7E0C6E"/>
                  </a:solidFill>
                  <a:latin typeface="+mj-ea"/>
                </a:rPr>
                <a:t>    </a:t>
              </a:r>
              <a:r>
                <a:rPr lang="zh-CN" altLang="en-US" sz="4400" b="1" dirty="0">
                  <a:solidFill>
                    <a:srgbClr val="7E0C6E"/>
                  </a:solidFill>
                  <a:latin typeface="+mj-ea"/>
                </a:rPr>
                <a:t>项目部署</a:t>
              </a:r>
              <a:endParaRPr lang="zh-CN" altLang="en-US" sz="4400" b="1" dirty="0">
                <a:solidFill>
                  <a:srgbClr val="7E0C6E"/>
                </a:solidFill>
                <a:latin typeface="+mj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697406" y="6185811"/>
            <a:ext cx="4725268" cy="369332"/>
            <a:chOff x="3697406" y="6185811"/>
            <a:chExt cx="4725268" cy="369332"/>
          </a:xfrm>
        </p:grpSpPr>
        <p:sp>
          <p:nvSpPr>
            <p:cNvPr id="10" name="矩形 9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chemeClr val="bg1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项目部署</a:t>
            </a:r>
            <a:endParaRPr lang="zh-CN" altLang="en-US" sz="2400" b="1" dirty="0"/>
          </a:p>
        </p:txBody>
      </p:sp>
      <p:sp>
        <p:nvSpPr>
          <p:cNvPr id="3" name="圆角矩形 2"/>
          <p:cNvSpPr/>
          <p:nvPr/>
        </p:nvSpPr>
        <p:spPr>
          <a:xfrm>
            <a:off x="796925" y="1734185"/>
            <a:ext cx="10953750" cy="130619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</a:rPr>
              <a:t>查看</a:t>
            </a:r>
            <a:r>
              <a:rPr lang="en-US" altLang="zh-CN">
                <a:solidFill>
                  <a:schemeClr val="tx1"/>
                </a:solidFill>
              </a:rPr>
              <a:t>readme</a:t>
            </a:r>
            <a:r>
              <a:rPr lang="zh-CN" altLang="en-US">
                <a:solidFill>
                  <a:schemeClr val="tx1"/>
                </a:solidFill>
              </a:rPr>
              <a:t>文档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</a:rPr>
              <a:t>点击</a:t>
            </a:r>
            <a:r>
              <a:rPr lang="en-US" altLang="zh-CN">
                <a:solidFill>
                  <a:schemeClr val="tx1"/>
                </a:solidFill>
              </a:rPr>
              <a:t>deploy.bat</a:t>
            </a:r>
            <a:r>
              <a:rPr lang="zh-CN" altLang="en-US">
                <a:solidFill>
                  <a:schemeClr val="tx1"/>
                </a:solidFill>
              </a:rPr>
              <a:t>输入数据库密码，实现一键部署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tx1"/>
                </a:solidFill>
              </a:rPr>
              <a:t>点击</a:t>
            </a:r>
            <a:r>
              <a:rPr lang="en-US" altLang="zh-CN">
                <a:solidFill>
                  <a:schemeClr val="tx1"/>
                </a:solidFill>
              </a:rPr>
              <a:t>start_all.bat</a:t>
            </a:r>
            <a:r>
              <a:rPr lang="zh-CN" altLang="en-US">
                <a:solidFill>
                  <a:schemeClr val="tx1"/>
                </a:solidFill>
              </a:rPr>
              <a:t>启动前后端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5" y="3197225"/>
            <a:ext cx="1095375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698643"/>
            <a:chOff x="0" y="0"/>
            <a:chExt cx="12192000" cy="698643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0" y="6159357"/>
            <a:ext cx="12192000" cy="698643"/>
            <a:chOff x="0" y="0"/>
            <a:chExt cx="12192000" cy="698643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98643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 flipV="1">
              <a:off x="0" y="593058"/>
              <a:ext cx="121920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71"/>
            <a:ext cx="1684819" cy="716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clrChange>
              <a:clrFrom>
                <a:srgbClr val="6D1B5B"/>
              </a:clrFrom>
              <a:clrTo>
                <a:srgbClr val="6D1B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59226"/>
            <a:ext cx="1684819" cy="716048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3733366" y="5659326"/>
            <a:ext cx="4725268" cy="369332"/>
            <a:chOff x="3697406" y="6185811"/>
            <a:chExt cx="4725268" cy="369332"/>
          </a:xfrm>
        </p:grpSpPr>
        <p:sp>
          <p:nvSpPr>
            <p:cNvPr id="22" name="矩形 21"/>
            <p:cNvSpPr/>
            <p:nvPr/>
          </p:nvSpPr>
          <p:spPr>
            <a:xfrm flipV="1">
              <a:off x="3697406" y="6347617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955568" y="6185811"/>
              <a:ext cx="2280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7E0C6E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NanKai University</a:t>
              </a:r>
              <a:endParaRPr lang="zh-CN" altLang="en-US" b="1" dirty="0">
                <a:solidFill>
                  <a:srgbClr val="7E0C6E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 flipV="1">
              <a:off x="7164512" y="6347616"/>
              <a:ext cx="1258162" cy="4571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" name="流程图: 预定义过程 24"/>
          <p:cNvSpPr/>
          <p:nvPr/>
        </p:nvSpPr>
        <p:spPr>
          <a:xfrm>
            <a:off x="3492500" y="931283"/>
            <a:ext cx="5080000" cy="510464"/>
          </a:xfrm>
          <a:prstGeom prst="flowChartPredefinedProcess">
            <a:avLst/>
          </a:prstGeom>
          <a:solidFill>
            <a:srgbClr val="7E0C6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可能出现的问题</a:t>
            </a:r>
            <a:endParaRPr lang="zh-CN" altLang="en-US" sz="2400" b="1" dirty="0"/>
          </a:p>
        </p:txBody>
      </p:sp>
      <p:sp>
        <p:nvSpPr>
          <p:cNvPr id="26" name="流程图: 预定义过程 25"/>
          <p:cNvSpPr/>
          <p:nvPr/>
        </p:nvSpPr>
        <p:spPr>
          <a:xfrm>
            <a:off x="3886200" y="920104"/>
            <a:ext cx="4292600" cy="510464"/>
          </a:xfrm>
          <a:prstGeom prst="flowChartPredefinedProcess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形 4" descr="铅笔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9059" y="1760871"/>
            <a:ext cx="914400" cy="914400"/>
          </a:xfrm>
          <a:prstGeom prst="rect">
            <a:avLst/>
          </a:prstGeom>
        </p:spPr>
      </p:pic>
      <p:pic>
        <p:nvPicPr>
          <p:cNvPr id="10" name="图形 9" descr="打开的书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48541" y="1760871"/>
            <a:ext cx="914400" cy="914400"/>
          </a:xfrm>
          <a:prstGeom prst="rect">
            <a:avLst/>
          </a:prstGeom>
        </p:spPr>
      </p:pic>
      <p:pic>
        <p:nvPicPr>
          <p:cNvPr id="18" name="图形 17" descr="合上的书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38800" y="1760871"/>
            <a:ext cx="914400" cy="914400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1054311" y="2845189"/>
            <a:ext cx="2463893" cy="1526761"/>
            <a:chOff x="1054311" y="2845189"/>
            <a:chExt cx="2463893" cy="1526761"/>
          </a:xfrm>
        </p:grpSpPr>
        <p:sp>
          <p:nvSpPr>
            <p:cNvPr id="27" name="矩形 26"/>
            <p:cNvSpPr/>
            <p:nvPr>
              <p:custDataLst>
                <p:tags r:id="rId12"/>
              </p:custDataLst>
            </p:nvPr>
          </p:nvSpPr>
          <p:spPr>
            <a:xfrm rot="10800000" flipV="1">
              <a:off x="1105179" y="2845189"/>
              <a:ext cx="2362159" cy="36884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端口被占用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>
              <p:custDataLst>
                <p:tags r:id="rId13"/>
              </p:custDataLst>
            </p:nvPr>
          </p:nvSpPr>
          <p:spPr>
            <a:xfrm>
              <a:off x="1054311" y="3449930"/>
              <a:ext cx="2463893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请启动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sql</a:t>
              </a: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，并检查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3306</a:t>
              </a: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端口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4"/>
            </p:custDataLst>
          </p:nvPr>
        </p:nvGrpSpPr>
        <p:grpSpPr>
          <a:xfrm>
            <a:off x="8673798" y="2845189"/>
            <a:ext cx="2463893" cy="1111471"/>
            <a:chOff x="1054311" y="2845189"/>
            <a:chExt cx="2463893" cy="1111471"/>
          </a:xfrm>
        </p:grpSpPr>
        <p:sp>
          <p:nvSpPr>
            <p:cNvPr id="30" name="矩形 29"/>
            <p:cNvSpPr/>
            <p:nvPr>
              <p:custDataLst>
                <p:tags r:id="rId15"/>
              </p:custDataLst>
            </p:nvPr>
          </p:nvSpPr>
          <p:spPr>
            <a:xfrm rot="10800000" flipV="1">
              <a:off x="1105179" y="2845189"/>
              <a:ext cx="2362159" cy="36884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不明原因</a:t>
              </a:r>
              <a:endParaRPr lang="zh-CN" altLang="en-US" dirty="0"/>
            </a:p>
          </p:txBody>
        </p:sp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1054311" y="3449930"/>
              <a:ext cx="2463893" cy="506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请查看日志</a:t>
              </a:r>
              <a:endParaRPr 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17"/>
            </p:custDataLst>
          </p:nvPr>
        </p:nvGrpSpPr>
        <p:grpSpPr>
          <a:xfrm>
            <a:off x="4864055" y="2845189"/>
            <a:ext cx="2463893" cy="1526761"/>
            <a:chOff x="1054311" y="2845189"/>
            <a:chExt cx="2463893" cy="1526761"/>
          </a:xfrm>
        </p:grpSpPr>
        <p:sp>
          <p:nvSpPr>
            <p:cNvPr id="33" name="矩形 32"/>
            <p:cNvSpPr/>
            <p:nvPr>
              <p:custDataLst>
                <p:tags r:id="rId18"/>
              </p:custDataLst>
            </p:nvPr>
          </p:nvSpPr>
          <p:spPr>
            <a:xfrm rot="10800000" flipV="1">
              <a:off x="1105179" y="2845189"/>
              <a:ext cx="2362159" cy="368849"/>
            </a:xfrm>
            <a:prstGeom prst="rect">
              <a:avLst/>
            </a:prstGeom>
            <a:solidFill>
              <a:srgbClr val="7E0C6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密码问题</a:t>
              </a:r>
              <a:endParaRPr lang="zh-CN" altLang="en-US" dirty="0"/>
            </a:p>
          </p:txBody>
        </p:sp>
        <p:sp>
          <p:nvSpPr>
            <p:cNvPr id="35" name="文本框 34"/>
            <p:cNvSpPr txBox="1"/>
            <p:nvPr>
              <p:custDataLst>
                <p:tags r:id="rId19"/>
              </p:custDataLst>
            </p:nvPr>
          </p:nvSpPr>
          <p:spPr>
            <a:xfrm>
              <a:off x="1054311" y="3449930"/>
              <a:ext cx="2463893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请在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drop</a:t>
              </a: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时输入您的</a:t>
              </a:r>
              <a:r>
                <a:rPr lang="en-US" altLang="zh-CN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sql</a:t>
              </a:r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rPr>
                <a:t>密码</a:t>
              </a:r>
              <a:endPara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880" y="1766"/>
            <a:ext cx="12465880" cy="685623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358172" y="-1766"/>
            <a:ext cx="12192000" cy="6858000"/>
          </a:xfrm>
          <a:prstGeom prst="rect">
            <a:avLst/>
          </a:prstGeom>
          <a:gradFill flip="none" rotWithShape="1">
            <a:gsLst>
              <a:gs pos="96791">
                <a:srgbClr val="7E0C6E">
                  <a:alpha val="0"/>
                </a:srgbClr>
              </a:gs>
              <a:gs pos="25000">
                <a:srgbClr val="7E0C6E"/>
              </a:gs>
              <a:gs pos="79000">
                <a:srgbClr val="7E0C6E">
                  <a:alpha val="44706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79479" y="2345076"/>
            <a:ext cx="10712521" cy="2167847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clrChange>
              <a:clrFrom>
                <a:srgbClr val="6F1A5B"/>
              </a:clrFrom>
              <a:clrTo>
                <a:srgbClr val="6F1A5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72" y="2345076"/>
            <a:ext cx="4572000" cy="19431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04899" y="2907587"/>
            <a:ext cx="5609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谢谢</a:t>
            </a:r>
            <a:endParaRPr lang="zh-CN" altLang="en-US" sz="4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74844" y="3828979"/>
            <a:ext cx="5346700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-679518" y="4900631"/>
            <a:ext cx="5609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</a:rPr>
              <a:t>制作人：郝普瑞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2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3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4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5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6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7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8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9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10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11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ags/tag12.xml><?xml version="1.0" encoding="utf-8"?>
<p:tagLst xmlns:p="http://schemas.openxmlformats.org/presentationml/2006/main">
  <p:tag name="KSO_WM_DIAGRAM_VIRTUALLY_FRAME" val="{&quot;height&quot;:238.34677165354333,&quot;left&quot;:83.01661417322835,&quot;top&quot;:138.65125984251966,&quot;width&quot;:793.9669291338583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1692</Words>
  <Application>WPS 演示</Application>
  <PresentationFormat>宽屏</PresentationFormat>
  <Paragraphs>171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方正粗黑宋简体</vt:lpstr>
      <vt:lpstr>微软雅黑</vt:lpstr>
      <vt:lpstr>Wingdings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WPS_1695295036</cp:lastModifiedBy>
  <cp:revision>22</cp:revision>
  <dcterms:created xsi:type="dcterms:W3CDTF">2020-04-27T09:38:00Z</dcterms:created>
  <dcterms:modified xsi:type="dcterms:W3CDTF">2025-12-23T05:09:38Z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6E903E9BA1D74FB998BF59496E0D2E56_12</vt:lpwstr>
  </property>
  <property fmtid="{D5CDD505-2E9C-101B-9397-08002B2CF9AE}" pid="3" name="KSOProductBuildVer">
    <vt:lpwstr>2052-12.1.0.24034</vt:lpwstr>
  </property>
</Properties>
</file>